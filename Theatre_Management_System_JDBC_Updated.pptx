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20"/>
  </p:notesMasterIdLst>
  <p:sldIdLst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1" r:id="rId16"/>
    <p:sldId id="272" r:id="rId17"/>
    <p:sldId id="265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1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image" Target="../media/image3.png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microsoft.com/office/2007/relationships/hdphoto" Target="../media/image2.wdp"/><Relationship Id="rId17" Type="http://schemas.openxmlformats.org/officeDocument/2006/relationships/image" Target="../media/image1.png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microsoft.com/office/2007/relationships/hdphoto" Target="../media/image5.wdp"/><Relationship Id="rId11" Type="http://schemas.openxmlformats.org/officeDocument/2006/relationships/image" Target="../media/image4.png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microsoft.com/office/2007/relationships/hdphoto" Target="../media/image2.wdp"/><Relationship Id="rId8" Type="http://schemas.openxmlformats.org/officeDocument/2006/relationships/image" Target="../media/image1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image" Target="../media/image6.png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矩形 20"/>
          <p:cNvSpPr/>
          <p:nvPr userDrawn="1">
            <p:custDataLst>
              <p:tags r:id="rId3"/>
            </p:custDataLst>
          </p:nvPr>
        </p:nvSpPr>
        <p:spPr>
          <a:xfrm>
            <a:off x="209550" y="1026319"/>
            <a:ext cx="8743950" cy="4805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9" name="矩形: 单圆角 8"/>
          <p:cNvSpPr/>
          <p:nvPr userDrawn="1">
            <p:custDataLst>
              <p:tags r:id="rId4"/>
            </p:custDataLst>
          </p:nvPr>
        </p:nvSpPr>
        <p:spPr>
          <a:xfrm>
            <a:off x="8086724" y="857250"/>
            <a:ext cx="1057276" cy="51435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209550" y="1026319"/>
            <a:ext cx="8743950" cy="4805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 flipH="1">
            <a:off x="957835" y="5270259"/>
            <a:ext cx="680386" cy="26947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384369" y="1683442"/>
            <a:ext cx="2429834" cy="2429834"/>
          </a:xfrm>
          <a:prstGeom prst="ellipse">
            <a:avLst/>
          </a:prstGeom>
          <a:gradFill>
            <a:gsLst>
              <a:gs pos="100000">
                <a:schemeClr val="accent1">
                  <a:alpha val="7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椭圆 14"/>
          <p:cNvSpPr/>
          <p:nvPr userDrawn="1">
            <p:custDataLst>
              <p:tags r:id="rId8"/>
            </p:custDataLst>
          </p:nvPr>
        </p:nvSpPr>
        <p:spPr>
          <a:xfrm>
            <a:off x="5186753" y="2663443"/>
            <a:ext cx="469831" cy="469831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70000"/>
                </a:schemeClr>
              </a:gs>
              <a:gs pos="33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957739" y="1842611"/>
            <a:ext cx="4728686" cy="1955483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36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957739" y="3921443"/>
            <a:ext cx="3855244" cy="48958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5F5F5F"/>
                </a:solidFill>
                <a:latin typeface="+mj-lt"/>
              </a:defRPr>
            </a:lvl1pPr>
            <a:lvl2pPr marL="342900" indent="0" algn="ctr">
              <a:buNone/>
              <a:defRPr sz="1500">
                <a:latin typeface="+mj-lt"/>
              </a:defRPr>
            </a:lvl2pPr>
            <a:lvl3pPr marL="685800" indent="0" algn="ctr">
              <a:buNone/>
              <a:defRPr sz="1350">
                <a:latin typeface="+mj-lt"/>
              </a:defRPr>
            </a:lvl3pPr>
            <a:lvl4pPr marL="1028700" indent="0" algn="ctr">
              <a:buNone/>
              <a:defRPr sz="1200">
                <a:latin typeface="+mj-lt"/>
              </a:defRPr>
            </a:lvl4pPr>
            <a:lvl5pPr marL="1371600" indent="0" algn="ctr">
              <a:buNone/>
              <a:defRPr sz="1200">
                <a:latin typeface="+mj-lt"/>
              </a:defRPr>
            </a:lvl5pPr>
            <a:lvl6pPr marL="1714500" indent="0" algn="ctr">
              <a:buNone/>
              <a:defRPr sz="1200">
                <a:latin typeface="+mj-lt"/>
              </a:defRPr>
            </a:lvl6pPr>
            <a:lvl7pPr marL="2057400" indent="0" algn="ctr">
              <a:buNone/>
              <a:defRPr sz="1200">
                <a:latin typeface="+mj-lt"/>
              </a:defRPr>
            </a:lvl7pPr>
            <a:lvl8pPr marL="2400300" indent="0" algn="ctr">
              <a:buNone/>
              <a:defRPr sz="1200">
                <a:latin typeface="+mj-lt"/>
              </a:defRPr>
            </a:lvl8pPr>
            <a:lvl9pPr marL="2743200" indent="0" algn="ctr">
              <a:buNone/>
              <a:defRPr sz="12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957835" y="1335542"/>
            <a:ext cx="2160000" cy="378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B2B2B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944739" y="4570643"/>
            <a:ext cx="2160000" cy="37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25" name="图片 24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38961" t="14119" r="52687" b="72877"/>
          <a:stretch>
            <a:fillRect/>
          </a:stretch>
        </p:blipFill>
        <p:spPr>
          <a:xfrm flipH="1">
            <a:off x="8083992" y="2585714"/>
            <a:ext cx="504825" cy="57145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64719" t="71327" r="23650" b="15199"/>
          <a:stretch>
            <a:fillRect/>
          </a:stretch>
        </p:blipFill>
        <p:spPr>
          <a:xfrm>
            <a:off x="5331104" y="2954291"/>
            <a:ext cx="592502" cy="498978"/>
          </a:xfrm>
          <a:custGeom>
            <a:avLst/>
            <a:gdLst>
              <a:gd name="connsiteX0" fmla="*/ 234115 w 790002"/>
              <a:gd name="connsiteY0" fmla="*/ 0 h 665304"/>
              <a:gd name="connsiteX1" fmla="*/ 339492 w 790002"/>
              <a:gd name="connsiteY1" fmla="*/ 0 h 665304"/>
              <a:gd name="connsiteX2" fmla="*/ 790002 w 790002"/>
              <a:gd name="connsiteY2" fmla="*/ 345391 h 665304"/>
              <a:gd name="connsiteX3" fmla="*/ 790002 w 790002"/>
              <a:gd name="connsiteY3" fmla="*/ 502571 h 665304"/>
              <a:gd name="connsiteX4" fmla="*/ 426565 w 790002"/>
              <a:gd name="connsiteY4" fmla="*/ 665304 h 665304"/>
              <a:gd name="connsiteX5" fmla="*/ 110821 w 790002"/>
              <a:gd name="connsiteY5" fmla="*/ 665304 h 665304"/>
              <a:gd name="connsiteX6" fmla="*/ 0 w 790002"/>
              <a:gd name="connsiteY6" fmla="*/ 543759 h 665304"/>
              <a:gd name="connsiteX7" fmla="*/ 0 w 790002"/>
              <a:gd name="connsiteY7" fmla="*/ 258759 h 6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002" h="665304">
                <a:moveTo>
                  <a:pt x="234115" y="0"/>
                </a:moveTo>
                <a:lnTo>
                  <a:pt x="339492" y="0"/>
                </a:lnTo>
                <a:lnTo>
                  <a:pt x="790002" y="345391"/>
                </a:lnTo>
                <a:lnTo>
                  <a:pt x="790002" y="502571"/>
                </a:lnTo>
                <a:lnTo>
                  <a:pt x="426565" y="665304"/>
                </a:lnTo>
                <a:lnTo>
                  <a:pt x="110821" y="665304"/>
                </a:lnTo>
                <a:lnTo>
                  <a:pt x="0" y="543759"/>
                </a:lnTo>
                <a:lnTo>
                  <a:pt x="0" y="258759"/>
                </a:lnTo>
                <a:close/>
              </a:path>
            </a:pathLst>
          </a:custGeom>
        </p:spPr>
      </p:pic>
      <p:pic>
        <p:nvPicPr>
          <p:cNvPr id="30" name="图片 29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19428" t="46114" r="76453" b="45859"/>
          <a:stretch>
            <a:fillRect/>
          </a:stretch>
        </p:blipFill>
        <p:spPr>
          <a:xfrm>
            <a:off x="7771745" y="4576496"/>
            <a:ext cx="248957" cy="352799"/>
          </a:xfrm>
          <a:prstGeom prst="rect">
            <a:avLst/>
          </a:prstGeom>
        </p:spPr>
      </p:pic>
      <p:sp>
        <p:nvSpPr>
          <p:cNvPr id="32" name="任意多边形: 形状 31"/>
          <p:cNvSpPr/>
          <p:nvPr userDrawn="1">
            <p:custDataLst>
              <p:tags r:id="rId21"/>
            </p:custDataLst>
          </p:nvPr>
        </p:nvSpPr>
        <p:spPr>
          <a:xfrm flipH="1">
            <a:off x="7802655" y="2213768"/>
            <a:ext cx="436095" cy="172721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3" t="17820" r="11674" b="13408"/>
          <a:stretch>
            <a:fillRect/>
          </a:stretch>
        </p:blipFill>
        <p:spPr>
          <a:xfrm flipH="1">
            <a:off x="4813191" y="1675515"/>
            <a:ext cx="4057649" cy="33047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+mn-lt"/>
                <a:cs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0" y="857250"/>
            <a:ext cx="9144000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矩形: 单圆角 4"/>
          <p:cNvSpPr/>
          <p:nvPr userDrawn="1">
            <p:custDataLst>
              <p:tags r:id="rId4"/>
            </p:custDataLst>
          </p:nvPr>
        </p:nvSpPr>
        <p:spPr>
          <a:xfrm flipH="1">
            <a:off x="0" y="857250"/>
            <a:ext cx="1228377" cy="51435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矩形 5"/>
          <p:cNvSpPr/>
          <p:nvPr userDrawn="1">
            <p:custDataLst>
              <p:tags r:id="rId5"/>
            </p:custDataLst>
          </p:nvPr>
        </p:nvSpPr>
        <p:spPr>
          <a:xfrm>
            <a:off x="209550" y="1026318"/>
            <a:ext cx="8743950" cy="48053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矩形 18"/>
          <p:cNvSpPr/>
          <p:nvPr userDrawn="1">
            <p:custDataLst>
              <p:tags r:id="rId6"/>
            </p:custDataLst>
          </p:nvPr>
        </p:nvSpPr>
        <p:spPr>
          <a:xfrm>
            <a:off x="209550" y="1026318"/>
            <a:ext cx="8743950" cy="4805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任意多边形: 形状 9"/>
          <p:cNvSpPr/>
          <p:nvPr userDrawn="1">
            <p:custDataLst>
              <p:tags r:id="rId7"/>
            </p:custDataLst>
          </p:nvPr>
        </p:nvSpPr>
        <p:spPr>
          <a:xfrm rot="16200000">
            <a:off x="8293410" y="3427259"/>
            <a:ext cx="620946" cy="7968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610718" y="4480272"/>
            <a:ext cx="1158761" cy="1158761"/>
          </a:xfrm>
          <a:prstGeom prst="ellipse">
            <a:avLst/>
          </a:prstGeom>
          <a:gradFill>
            <a:gsLst>
              <a:gs pos="100000">
                <a:schemeClr val="accent1">
                  <a:alpha val="7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 flipH="1">
            <a:off x="943244" y="1347189"/>
            <a:ext cx="680386" cy="26947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24359" t="13842" r="17500" b="15194"/>
          <a:stretch>
            <a:fillRect/>
          </a:stretch>
        </p:blipFill>
        <p:spPr>
          <a:xfrm>
            <a:off x="887549" y="4482503"/>
            <a:ext cx="1158761" cy="102830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953929" y="2682240"/>
            <a:ext cx="2469833" cy="811054"/>
          </a:xfrm>
        </p:spPr>
        <p:txBody>
          <a:bodyPr wrap="square" anchor="b">
            <a:noAutofit/>
          </a:bodyPr>
          <a:lstStyle>
            <a:lvl1pPr algn="ctr">
              <a:defRPr sz="3375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0" y="1033070"/>
            <a:ext cx="7357814" cy="48053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矩形: 单圆角 9"/>
          <p:cNvSpPr/>
          <p:nvPr userDrawn="1">
            <p:custDataLst>
              <p:tags r:id="rId4"/>
            </p:custDataLst>
          </p:nvPr>
        </p:nvSpPr>
        <p:spPr>
          <a:xfrm>
            <a:off x="7156656" y="857250"/>
            <a:ext cx="1987344" cy="5143499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 flipH="1">
            <a:off x="958774" y="1680871"/>
            <a:ext cx="680386" cy="26947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5713223" y="1899981"/>
            <a:ext cx="1691789" cy="1691789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000">
                <a:schemeClr val="accent1">
                  <a:lumMod val="40000"/>
                  <a:lumOff val="60000"/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17164" t="14119" r="19643" b="14233"/>
          <a:stretch>
            <a:fillRect/>
          </a:stretch>
        </p:blipFill>
        <p:spPr>
          <a:xfrm>
            <a:off x="4974765" y="1751107"/>
            <a:ext cx="3819572" cy="3148619"/>
          </a:xfrm>
          <a:prstGeom prst="rect">
            <a:avLst/>
          </a:prstGeom>
        </p:spPr>
      </p:pic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5708680" y="4518329"/>
            <a:ext cx="406370" cy="406370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5" name="直接连接符 14"/>
          <p:cNvCxnSpPr/>
          <p:nvPr userDrawn="1">
            <p:custDataLst>
              <p:tags r:id="rId11"/>
            </p:custDataLst>
          </p:nvPr>
        </p:nvCxnSpPr>
        <p:spPr>
          <a:xfrm>
            <a:off x="962025" y="5209634"/>
            <a:ext cx="4266604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961073" y="3308509"/>
            <a:ext cx="4866323" cy="1434941"/>
          </a:xfrm>
        </p:spPr>
        <p:txBody>
          <a:bodyPr wrap="square" anchor="t" anchorCtr="0">
            <a:normAutofit/>
          </a:bodyPr>
          <a:lstStyle>
            <a:lvl1pPr algn="l">
              <a:defRPr sz="36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961100" y="2207717"/>
            <a:ext cx="4104679" cy="1018157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45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8" name="任意多边形: 形状 17"/>
          <p:cNvSpPr/>
          <p:nvPr userDrawn="1">
            <p:custDataLst>
              <p:tags r:id="rId17"/>
            </p:custDataLst>
          </p:nvPr>
        </p:nvSpPr>
        <p:spPr>
          <a:xfrm>
            <a:off x="7707476" y="5169793"/>
            <a:ext cx="620946" cy="7968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矩形 22"/>
          <p:cNvSpPr/>
          <p:nvPr userDrawn="1">
            <p:custDataLst>
              <p:tags r:id="rId3"/>
            </p:custDataLst>
          </p:nvPr>
        </p:nvSpPr>
        <p:spPr>
          <a:xfrm>
            <a:off x="1458686" y="1026320"/>
            <a:ext cx="7487671" cy="48053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1458686" y="1026320"/>
            <a:ext cx="7487671" cy="4805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矩形: 单圆角 8"/>
          <p:cNvSpPr/>
          <p:nvPr userDrawn="1">
            <p:custDataLst>
              <p:tags r:id="rId5"/>
            </p:custDataLst>
          </p:nvPr>
        </p:nvSpPr>
        <p:spPr>
          <a:xfrm>
            <a:off x="0" y="857250"/>
            <a:ext cx="2162174" cy="51435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 flipH="1">
            <a:off x="7685315" y="1412720"/>
            <a:ext cx="680386" cy="26947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951302" y="5226696"/>
            <a:ext cx="620946" cy="7968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accent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2466819" y="1822003"/>
            <a:ext cx="1429790" cy="1429790"/>
          </a:xfrm>
          <a:prstGeom prst="ellipse">
            <a:avLst/>
          </a:prstGeom>
          <a:gradFill>
            <a:gsLst>
              <a:gs pos="100000">
                <a:schemeClr val="accent1">
                  <a:alpha val="48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椭圆 14"/>
          <p:cNvSpPr/>
          <p:nvPr userDrawn="1">
            <p:custDataLst>
              <p:tags r:id="rId9"/>
            </p:custDataLst>
          </p:nvPr>
        </p:nvSpPr>
        <p:spPr>
          <a:xfrm>
            <a:off x="2457125" y="4637114"/>
            <a:ext cx="315121" cy="315121"/>
          </a:xfrm>
          <a:prstGeom prst="ellipse">
            <a:avLst/>
          </a:prstGeom>
          <a:gradFill>
            <a:gsLst>
              <a:gs pos="83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 flipH="1">
            <a:off x="3048147" y="4736416"/>
            <a:ext cx="680386" cy="26947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 l="13952" t="4910" r="10882" b="10539"/>
          <a:stretch>
            <a:fillRect/>
          </a:stretch>
        </p:blipFill>
        <p:spPr>
          <a:xfrm>
            <a:off x="461504" y="1822003"/>
            <a:ext cx="3827414" cy="31302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3867626" y="1851184"/>
            <a:ext cx="4466749" cy="1838325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45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6174375" y="4712324"/>
            <a:ext cx="2160000" cy="37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image" Target="../media/image7.png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9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print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20932" y="1070738"/>
            <a:ext cx="684942" cy="62709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57739" y="1842611"/>
            <a:ext cx="4728686" cy="1955483"/>
          </a:xfrm>
        </p:spPr>
        <p:txBody>
          <a:bodyPr>
            <a:normAutofit fontScale="90000"/>
          </a:bodyPr>
          <a:lstStyle/>
          <a:p>
            <a:r>
              <a:rPr lang="en-US" dirty="0"/>
              <a:t>THEATRE MANAGEMENT SYSTEM</a:t>
            </a:r>
            <a:endParaRPr lang="en-US" dirty="0"/>
          </a:p>
          <a:p>
            <a:r>
              <a:rPr lang="en-US" dirty="0"/>
              <a:t>USING JDBC</a:t>
            </a:r>
            <a:endParaRPr lang="en-US" dirty="0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57739" y="3921443"/>
            <a:ext cx="3855244" cy="489585"/>
          </a:xfrm>
        </p:spPr>
        <p:txBody>
          <a:bodyPr/>
          <a:lstStyle/>
          <a:p>
            <a:r>
              <a:rPr lang="en-US"/>
              <a:t>Presenters</a:t>
            </a:r>
            <a:endParaRPr lang="en-US"/>
          </a:p>
        </p:txBody>
      </p:sp>
      <p:pic>
        <p:nvPicPr>
          <p:cNvPr id="131" name="Google Shape;131;p13"/>
          <p:cNvPicPr preferRelativeResize="0"/>
          <p:nvPr/>
        </p:nvPicPr>
        <p:blipFill rotWithShape="1">
          <a:blip r:embed="rId3"/>
          <a:srcRect l="1782" r="52987" b="71553"/>
          <a:stretch>
            <a:fillRect/>
          </a:stretch>
        </p:blipFill>
        <p:spPr>
          <a:xfrm>
            <a:off x="772795" y="-18415"/>
            <a:ext cx="4339590" cy="1292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436870" y="-18415"/>
            <a:ext cx="2518410" cy="12915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1561465" y="4753610"/>
            <a:ext cx="3048000" cy="914400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p>
            <a:pPr>
              <a:lnSpc>
                <a:spcPct val="140000"/>
              </a:lnSpc>
            </a:pPr>
            <a:r>
              <a:rPr lang="en-US" sz="2250" b="1">
                <a:sym typeface="+mn-ea"/>
              </a:rPr>
              <a:t>Under the Guidance of</a:t>
            </a:r>
            <a:endParaRPr lang="en-US" sz="225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2400" kern="100" dirty="0">
                <a:effectLst/>
                <a:latin typeface="+mn-ea"/>
                <a:cs typeface="江城圆体 400W" panose="020B0500000000000000" pitchFamily="34" charset="-122"/>
              </a:rPr>
              <a:t>Roja Mani</a:t>
            </a:r>
            <a:endParaRPr 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7" name="文本占位符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255504" y="4373158"/>
            <a:ext cx="2160000" cy="37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>
                <a:solidFill>
                  <a:srgbClr val="FFFFFF"/>
                </a:solidFill>
                <a:latin typeface="+mn-lt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Frazer Akshita</a:t>
            </a:r>
            <a:endParaRPr lang="en-US"/>
          </a:p>
        </p:txBody>
      </p:sp>
      <p:sp>
        <p:nvSpPr>
          <p:cNvPr id="8" name="Text Placeholder 7"/>
          <p:cNvSpPr/>
          <p:nvPr>
            <p:ph type="body" sz="quarter" idx="17"/>
            <p:custDataLst>
              <p:tags r:id="rId6"/>
            </p:custDataLst>
          </p:nvPr>
        </p:nvSpPr>
        <p:spPr>
          <a:xfrm>
            <a:off x="711059" y="4380778"/>
            <a:ext cx="2160000" cy="378000"/>
          </a:xfrm>
        </p:spPr>
        <p:txBody>
          <a:bodyPr/>
          <a:p>
            <a:r>
              <a:rPr lang="en-US"/>
              <a:t>Chandana Murthy</a:t>
            </a:r>
            <a:endParaRPr lang="en-US"/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Theatre Management System is a Java-based application developed using JDBC and MySQL.</a:t>
            </a:r>
          </a:p>
          <a:p>
            <a:r>
              <a:t>It is a menu-driven console application that performs CRUD operations on theatre booking records.</a:t>
            </a:r>
          </a:p>
          <a:p>
            <a:r>
              <a:t>The system allows users to add new bookings, search bookings by ID, update booking details, and cancel bookings efficiently using JDBC.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JDBC is used to connect Java applications with databases.</a:t>
            </a:r>
          </a:p>
          <a:p>
            <a:r>
              <a:t>It allows sending SQL queries and update statements to the database.</a:t>
            </a:r>
          </a:p>
          <a:p>
            <a:r>
              <a:t>The results returned from the database are processed using ResultSet.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4 Driver (Thin Driver) is used.</a:t>
            </a:r>
          </a:p>
          <a:p>
            <a:r>
              <a:t>It is fully written in Java.</a:t>
            </a:r>
          </a:p>
          <a:p>
            <a:r>
              <a:t>No additional software or middleware is required.</a:t>
            </a:r>
          </a:p>
          <a:p>
            <a:r>
              <a:t>Provides better performance and portability.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Name: </a:t>
            </a:r>
            <a:r>
              <a:rPr lang="en-US"/>
              <a:t>theatre_DB</a:t>
            </a:r>
          </a:p>
          <a:p>
            <a:r>
              <a:t>Table Name: theatre_management</a:t>
            </a:r>
          </a:p>
          <a:p>
            <a:r>
              <a:t>The table stores booking details such as theatre name, movie name, show details, customer details, and booking status.</a:t>
            </a: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Booking</a:t>
            </a:r>
          </a:p>
          <a:p>
            <a:r>
              <a:t>2. View Booking by ID</a:t>
            </a:r>
          </a:p>
          <a:p>
            <a:r>
              <a:t>3. View All Bookings</a:t>
            </a:r>
          </a:p>
          <a:p>
            <a:r>
              <a:t>4. Update Booking by ID</a:t>
            </a:r>
          </a:p>
          <a:p>
            <a:r>
              <a:t>5. Delete Booking by ID</a:t>
            </a:r>
          </a:p>
          <a:p>
            <a:r>
              <a:t>6. Exit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Create: Insert new booking records into the database.</a:t>
            </a:r>
          </a:p>
          <a:p>
            <a:r>
              <a:t>Read: View booking details by ID or view all bookings.</a:t>
            </a:r>
          </a:p>
          <a:p>
            <a:r>
              <a:t>Update: Modify movie name or seat number using booking ID.</a:t>
            </a:r>
          </a:p>
          <a:p>
            <a:r>
              <a:t>Delete: Cancel booking after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user selects an option from the menu.</a:t>
            </a:r>
          </a:p>
          <a:p>
            <a:r>
              <a:t>Based on the selection, the corresponding JDBC operation is performed.</a:t>
            </a:r>
          </a:p>
          <a:p>
            <a:r>
              <a:t>The result of the operation is displayed on the console.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MYSQL SNAPSHOT</a:t>
            </a: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54785"/>
            <a:ext cx="8229600" cy="43916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Program Snapshots</a:t>
            </a:r>
            <a:endParaRPr lang="en-US"/>
          </a:p>
        </p:txBody>
      </p:sp>
      <p:sp>
        <p:nvSpPr>
          <p:cNvPr id="5" name="Content Placeholder 4"/>
          <p:cNvSpPr/>
          <p:nvPr>
            <p:ph sz="half" idx="1"/>
          </p:nvPr>
        </p:nvSpPr>
        <p:spPr/>
        <p:txBody>
          <a:bodyPr/>
          <a:p>
            <a:r>
              <a:rPr lang="en-US"/>
              <a:t>Menu to choose from coice: 2</a:t>
            </a:r>
            <a:endParaRPr lang="en-US"/>
          </a:p>
          <a:p>
            <a:endParaRPr 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39165" y="3097530"/>
            <a:ext cx="6743065" cy="1975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Program snapshots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Menu to choose from choice</a:t>
            </a:r>
            <a:endParaRPr lang="en-US"/>
          </a:p>
        </p:txBody>
      </p:sp>
      <p:pic>
        <p:nvPicPr>
          <p:cNvPr id="13" name="Content Placeholder 1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11225" y="2376170"/>
            <a:ext cx="6547485" cy="1875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Program Snapshots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Menu to choose from choice:4</a:t>
            </a:r>
            <a:endParaRPr lang="en-US"/>
          </a:p>
          <a:p>
            <a:r>
              <a:rPr lang="en-US"/>
              <a:t>Choosing option:2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11225" y="3054350"/>
            <a:ext cx="6104890" cy="2999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Program Snapshot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Menu to choose from choice:4</a:t>
            </a:r>
            <a:endParaRPr lang="en-US"/>
          </a:p>
          <a:p>
            <a:r>
              <a:rPr lang="en-US">
                <a:sym typeface="+mn-ea"/>
              </a:rPr>
              <a:t>Choosing option:1</a:t>
            </a:r>
            <a:endParaRPr lang="en-US"/>
          </a:p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67410" y="2954020"/>
            <a:ext cx="6044565" cy="3138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Program Snapshot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Menu to choose from choice:5</a:t>
            </a:r>
            <a:endParaRPr lang="en-US"/>
          </a:p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01700" y="2486660"/>
            <a:ext cx="6760845" cy="31248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Theatre Management System demonstrates the practical implementation of JDBC with MySQL.</a:t>
            </a:r>
          </a:p>
          <a:p>
            <a:r>
              <a:t>It simplifies theatre booking management using a menu-driven approach.</a:t>
            </a:r>
          </a:p>
          <a:p>
            <a:r>
              <a:t>The project follows core JDBC concepts taught during training.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990" y="2713990"/>
            <a:ext cx="4888230" cy="1539240"/>
          </a:xfrm>
        </p:spPr>
        <p:txBody>
          <a:bodyPr>
            <a:scene3d>
              <a:camera prst="orthographicFront"/>
              <a:lightRig rig="threePt" dir="t"/>
            </a:scene3d>
            <a:sp3d contourW="12700">
              <a:contourClr>
                <a:srgbClr val="7030A0"/>
              </a:contourClr>
            </a:sp3d>
          </a:bodyPr>
          <a:lstStyle/>
          <a:p>
            <a:pPr marL="0" indent="0">
              <a:buNone/>
            </a:pPr>
            <a:r>
              <a:rPr lang="en-US" sz="7200">
                <a:ln w="15875"/>
                <a:gradFill>
                  <a:gsLst>
                    <a:gs pos="50000">
                      <a:srgbClr val="0070C0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4200000" scaled="1"/>
                </a:gradFill>
                <a:effectLst>
                  <a:glow>
                    <a:srgbClr val="0070C0">
                      <a:alpha val="95000"/>
                    </a:srgbClr>
                  </a:glow>
                  <a:innerShdw blurRad="63500" dist="50800">
                    <a:srgbClr val="7030A0">
                      <a:alpha val="50000"/>
                    </a:srgbClr>
                  </a:innerShdw>
                  <a:reflection blurRad="6350" stA="60000" endA="900" endPos="58000" dir="5400000" sy="-100000" algn="bl" rotWithShape="0"/>
                </a:effectLst>
              </a:rPr>
              <a:t>Thank You!</a:t>
            </a:r>
            <a:endParaRPr lang="en-US" sz="7200">
              <a:ln w="15875"/>
              <a:gradFill>
                <a:gsLst>
                  <a:gs pos="50000">
                    <a:srgbClr val="0070C0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4200000" scaled="1"/>
              </a:gradFill>
              <a:effectLst>
                <a:glow>
                  <a:srgbClr val="0070C0">
                    <a:alpha val="95000"/>
                  </a:srgbClr>
                </a:glow>
                <a:innerShdw blurRad="63500" dist="50800">
                  <a:srgbClr val="7030A0">
                    <a:alpha val="50000"/>
                  </a:srgbClr>
                </a:innerShdw>
                <a:reflection blurRad="6350" stA="60000" endA="900" endPos="58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NUMDGMTITLE" val="0"/>
  <p:tag name="KSO_WM_UNIT_PRESET_TEXT" val="节编号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40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51"/>
</p:tagLst>
</file>

<file path=ppt/tags/tag10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51"/>
</p:tagLst>
</file>

<file path=ppt/tags/tag10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51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51_1*a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The title goes here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51_1*b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Add description"/>
</p:tagLst>
</file>

<file path=ppt/tags/tag107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51_1*f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Name"/>
</p:tagLst>
</file>

<file path=ppt/tags/tag108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51_1*f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Name"/>
</p:tagLst>
</file>

<file path=ppt/tags/tag10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5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51"/>
  <p:tag name="KSO_WM_SLIDE_LAYOUT" val="a_b_f"/>
  <p:tag name="KSO_WM_SLIDE_LAYOUT_CNT" val="1_1_2"/>
</p:tagLst>
</file>

<file path=ppt/theme/theme1.xml><?xml version="1.0" encoding="utf-8"?>
<a:theme xmlns:a="http://schemas.openxmlformats.org/drawingml/2006/main" name="Office Theme">
  <a:themeElements>
    <a:clrScheme name="0325-4">
      <a:dk1>
        <a:srgbClr val="333333"/>
      </a:dk1>
      <a:lt1>
        <a:sysClr val="window" lastClr="FFFFFF"/>
      </a:lt1>
      <a:dk2>
        <a:srgbClr val="000000"/>
      </a:dk2>
      <a:lt2>
        <a:srgbClr val="FFF6E5"/>
      </a:lt2>
      <a:accent1>
        <a:srgbClr val="F7C869"/>
      </a:accent1>
      <a:accent2>
        <a:srgbClr val="F69D4C"/>
      </a:accent2>
      <a:accent3>
        <a:srgbClr val="7DBDFB"/>
      </a:accent3>
      <a:accent4>
        <a:srgbClr val="3E66D6"/>
      </a:accent4>
      <a:accent5>
        <a:srgbClr val="EBAC94"/>
      </a:accent5>
      <a:accent6>
        <a:srgbClr val="DD8B70"/>
      </a:accent6>
      <a:hlink>
        <a:srgbClr val="0026E5"/>
      </a:hlink>
      <a:folHlink>
        <a:srgbClr val="7E1FAD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2042</Words>
  <Application>WPS Presentation</Application>
  <PresentationFormat>On-screen Show (4:3)</PresentationFormat>
  <Paragraphs>95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Times New Roman</vt:lpstr>
      <vt:lpstr>Calibri</vt:lpstr>
      <vt:lpstr>Lato</vt:lpstr>
      <vt:lpstr>Segoe Print</vt:lpstr>
      <vt:lpstr>Manrope ExtraBold</vt:lpstr>
      <vt:lpstr>Calibri Light</vt:lpstr>
      <vt:lpstr>江城圆体 400W</vt:lpstr>
      <vt:lpstr>Inter</vt:lpstr>
      <vt:lpstr>Inter Bold</vt:lpstr>
      <vt:lpstr>Office Theme</vt:lpstr>
      <vt:lpstr>Green Color</vt:lpstr>
      <vt:lpstr>USING JDBC</vt:lpstr>
      <vt:lpstr>INTRODUCTION</vt:lpstr>
      <vt:lpstr>STRUCTURE OF JDBC</vt:lpstr>
      <vt:lpstr>JDBC DRIVER</vt:lpstr>
      <vt:lpstr>DATABASE DESIGN</vt:lpstr>
      <vt:lpstr>MENU OPTIONS</vt:lpstr>
      <vt:lpstr>CRUD OPERATIONS</vt:lpstr>
      <vt:lpstr>PROGRAM EXECUTION</vt:lpstr>
      <vt:lpstr>MYSQL SNAPSHOT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Chandana Murthy BC710</cp:lastModifiedBy>
  <cp:revision>3</cp:revision>
  <dcterms:created xsi:type="dcterms:W3CDTF">2013-01-27T09:14:00Z</dcterms:created>
  <dcterms:modified xsi:type="dcterms:W3CDTF">2026-01-21T17:45:10Z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7BBD7C8F8A3640D88815E815CB31F11C_12</vt:lpwstr>
  </property>
  <property fmtid="{D5CDD505-2E9C-101B-9397-08002B2CF9AE}" pid="3" name="KSOProductBuildVer">
    <vt:lpwstr>1033-12.2.0.23196</vt:lpwstr>
  </property>
</Properties>
</file>